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9"/>
  </p:notesMasterIdLst>
  <p:sldIdLst>
    <p:sldId id="256" r:id="rId2"/>
    <p:sldId id="262" r:id="rId3"/>
    <p:sldId id="263" r:id="rId4"/>
    <p:sldId id="259" r:id="rId5"/>
    <p:sldId id="260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80"/>
    <p:restoredTop sz="94731"/>
  </p:normalViewPr>
  <p:slideViewPr>
    <p:cSldViewPr snapToGrid="0">
      <p:cViewPr>
        <p:scale>
          <a:sx n="88" d="100"/>
          <a:sy n="88" d="100"/>
        </p:scale>
        <p:origin x="1616" y="1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B0AAD-227C-EB49-9257-F87B47B85006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7D1393-B8D0-D045-9675-5757205FE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536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7D1393-B8D0-D045-9675-5757205FE40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797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7D1393-B8D0-D045-9675-5757205FE40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073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A6A15-6E39-4FFA-B5DC-89EB633E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1371600"/>
            <a:ext cx="8127574" cy="2736443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169311-3201-45EC-B973-82EC27DA5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300" y="4299358"/>
            <a:ext cx="8127574" cy="1187042"/>
          </a:xfrm>
        </p:spPr>
        <p:txBody>
          <a:bodyPr>
            <a:normAutofit/>
          </a:bodyPr>
          <a:lstStyle>
            <a:lvl1pPr marL="0" indent="0" algn="l">
              <a:buNone/>
              <a:defRPr sz="1800" cap="all" spc="2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AE4B9-EDEF-4A2C-B464-332C5C624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4C951-4861-4549-8E72-CEECA89E4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E1401-5637-41BC-AC21-89105645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419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3747-9ADB-4FCC-89CE-6E84D134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EC9C6-5D7D-4249-8820-D4C99D0AE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F35F7-46A1-40A9-ACD7-C4923992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45637-B780-4999-A87D-0039BC5A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9777F-E471-4CC5-B27B-137CB061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9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DCB1D-064E-46DE-B533-7CDA331EE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2748406"/>
            <a:ext cx="8115300" cy="273799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222C0-D002-4A94-BAFF-FD1A1CCA6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1371600"/>
            <a:ext cx="8115300" cy="133327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E7D7E-EC9F-4AA5-A559-EF556C6AD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7A8EE-88C1-400C-A23F-656DC76B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245A4-F9C6-44E9-929F-78C657C8B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280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F34F-B65E-4FA0-87E8-8890F482B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9382348" cy="1371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25A67-10CA-4531-93E1-39892C087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8297" y="2057400"/>
            <a:ext cx="4553103" cy="41250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2BE36-0CAF-4D92-9AC2-9249276B9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7000" y="2057400"/>
            <a:ext cx="4543647" cy="4125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36479-3B04-43BD-9B59-DBF6CA2BF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D4449-57DB-41D2-B49E-694E7C13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0CC2C-E50B-47D2-B62F-D5C4C9CD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329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8530B-D0F2-4FC4-A10F-1E54EF82C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755118"/>
            <a:ext cx="9378304" cy="122276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8865C-9D06-4FA3-BA3D-7187BB41B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56570-8F97-4B7E-A805-96925AC47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8300" y="2748405"/>
            <a:ext cx="4529391" cy="34412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57EF54-F63F-4730-99EE-0E472578F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87213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08453E-B012-4889-9F49-E1351532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87213" y="2748405"/>
            <a:ext cx="4529391" cy="34412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FC47A-8514-4C98-B1BE-FF6CC666C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2/20/26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D4301A-D375-4163-9488-27A9CDC6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ED6105-4A37-4D4B-9BE8-715FB732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453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3007F-6649-4D23-8869-C1CC29D00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B85A1-41F9-4BC1-9C40-3E5D5C04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2/20/26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23774-EAA9-47ED-87EF-EE2B29A25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26550-DD4D-45E2-8916-8314C5D06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379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5FACD-1A4D-49F3-8EA8-21B5C1A6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2/20/26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FD9DD-0E4E-4C36-AF85-B3EAD7FE6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6F4C8-14FA-4405-85EE-ABF53FB0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299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E7C28-5DEE-493D-ABAD-38E4F2D75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621" y="1085481"/>
            <a:ext cx="365118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E79C5-E567-4F12-96B8-8BBEAE3D8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6900" y="1132676"/>
            <a:ext cx="5289480" cy="4728374"/>
          </a:xfrm>
        </p:spPr>
        <p:txBody>
          <a:bodyPr/>
          <a:lstStyle>
            <a:lvl1pPr>
              <a:lnSpc>
                <a:spcPct val="110000"/>
              </a:lnSpc>
              <a:defRPr sz="3200"/>
            </a:lvl1pPr>
            <a:lvl2pPr>
              <a:lnSpc>
                <a:spcPct val="110000"/>
              </a:lnSpc>
              <a:defRPr sz="2800"/>
            </a:lvl2pPr>
            <a:lvl3pPr>
              <a:lnSpc>
                <a:spcPct val="110000"/>
              </a:lnSpc>
              <a:defRPr sz="2400"/>
            </a:lvl3pPr>
            <a:lvl4pPr>
              <a:lnSpc>
                <a:spcPct val="110000"/>
              </a:lnSpc>
              <a:defRPr sz="2000"/>
            </a:lvl4pPr>
            <a:lvl5pPr>
              <a:lnSpc>
                <a:spcPct val="11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3DF7F-0B5C-40CE-A65F-779FA7EFB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5621" y="2748406"/>
            <a:ext cx="365118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2248C-1826-4833-9592-383B5873A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219DC-2646-42AD-897A-EB765DCBE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238D7-4EEA-475B-B1CA-C44B89BEA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238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D65BE-C907-4660-A586-71C6A1D1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085481"/>
            <a:ext cx="365760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4C8A9-67DF-419C-B2FC-3A879CCEF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6900" y="1061885"/>
            <a:ext cx="5331069" cy="47755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A94A1-3058-402A-9C3F-2F210D91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2748406"/>
            <a:ext cx="365760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3CA50-C8D8-4F83-B2F6-BCE825866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E5BE3-7B02-4281-BD90-C1FAAF636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E256D-ACD5-438F-BA6F-605E5260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70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D0E6-AD36-493C-9DC3-5ACC2059E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B8558-FA83-4F6C-A6D1-2DF9D3F74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38299" y="2057399"/>
            <a:ext cx="8915401" cy="41148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DE619-0CC6-4480-ABDE-277D36BD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791E6-BE35-4ECA-8AD1-E8EC09B85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94606-B928-42D6-85CC-9576F60E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927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F18D8A-5002-491C-922A-E9624E2DB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882C6-2BE9-4E25-B8BB-A2346A2B0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BEFF9-B3BC-4C07-BF6C-2E3C91B54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F4CF6-CDF1-4AFD-8319-71FD4FED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1A026-57F4-47F7-B4F0-E0D48E012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248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1A689-589E-4A73-9313-EF44F7E4E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B11B8-9E77-4144-B9C1-FD164D9A1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57400"/>
            <a:ext cx="8915402" cy="4137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6E4CC-CF79-4C8D-9E5F-1BB517435A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1001475" y="1517536"/>
            <a:ext cx="28011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B6D41BCC-AD73-4203-A5A6-E62EB28B0FE6}" type="datetimeFigureOut">
              <a:rPr lang="en-US" smtClean="0"/>
              <a:pPr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79449-05F6-4BC7-95DF-F04E1F161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118764" y="4237870"/>
            <a:ext cx="33440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17FE5-2D1F-4ECC-9460-08145C3BB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8877" y="6319138"/>
            <a:ext cx="7106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D637F8FC-4B86-4690-8888-22AB2F781B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952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44DFB53-C7FE-4BC7-BA96-83262BE09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81D4E2-91C4-BC28-537A-0AC4043988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5125144"/>
            <a:ext cx="9334500" cy="771845"/>
          </a:xfrm>
        </p:spPr>
        <p:txBody>
          <a:bodyPr>
            <a:normAutofit/>
          </a:bodyPr>
          <a:lstStyle/>
          <a:p>
            <a:r>
              <a:rPr lang="en-US" sz="3200" dirty="0"/>
              <a:t>Summary of Data Structure and Availability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B2C741-A3EC-0D46-CA40-A94CC7453B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5970269"/>
            <a:ext cx="9334500" cy="563187"/>
          </a:xfrm>
        </p:spPr>
        <p:txBody>
          <a:bodyPr>
            <a:normAutofit/>
          </a:bodyPr>
          <a:lstStyle/>
          <a:p>
            <a:r>
              <a:rPr lang="en-US" sz="1600" dirty="0"/>
              <a:t>Lauren J Beesley AND LANL Infectious disease forecasting team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D6ECCA-440E-AAF5-5E11-E1580AB72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222" b="12403"/>
          <a:stretch>
            <a:fillRect/>
          </a:stretch>
        </p:blipFill>
        <p:spPr>
          <a:xfrm>
            <a:off x="20" y="10"/>
            <a:ext cx="12191980" cy="4800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04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2EE2C-F306-BB42-982A-F7E116634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385" y="685800"/>
            <a:ext cx="8915402" cy="1371600"/>
          </a:xfrm>
        </p:spPr>
        <p:txBody>
          <a:bodyPr/>
          <a:lstStyle/>
          <a:p>
            <a:r>
              <a:rPr lang="en-US" dirty="0"/>
              <a:t>Some basic stats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F85037-1957-EBF6-2958-0CBDC656FF40}"/>
              </a:ext>
            </a:extLst>
          </p:cNvPr>
          <p:cNvSpPr/>
          <p:nvPr/>
        </p:nvSpPr>
        <p:spPr>
          <a:xfrm>
            <a:off x="1065269" y="2217057"/>
            <a:ext cx="2643415" cy="70428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7076 time series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A35688-BFA7-10A2-86ED-C3DA4BC0AC59}"/>
              </a:ext>
            </a:extLst>
          </p:cNvPr>
          <p:cNvSpPr/>
          <p:nvPr/>
        </p:nvSpPr>
        <p:spPr>
          <a:xfrm>
            <a:off x="1065269" y="3537857"/>
            <a:ext cx="2643415" cy="70428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68 diseases</a:t>
            </a:r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95460549-4C15-7DA9-1791-C628ED55F7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7274" t="31158" r="32439" b="31069"/>
          <a:stretch>
            <a:fillRect/>
          </a:stretch>
        </p:blipFill>
        <p:spPr>
          <a:xfrm>
            <a:off x="4723194" y="369119"/>
            <a:ext cx="6759421" cy="633747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23412D9-D346-CEB7-6031-DB7BDF0226DC}"/>
              </a:ext>
            </a:extLst>
          </p:cNvPr>
          <p:cNvSpPr/>
          <p:nvPr/>
        </p:nvSpPr>
        <p:spPr>
          <a:xfrm>
            <a:off x="1217669" y="2369457"/>
            <a:ext cx="2643415" cy="7042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7076 time series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F50566-1ADC-65FA-6749-91FF20DA8A9D}"/>
              </a:ext>
            </a:extLst>
          </p:cNvPr>
          <p:cNvSpPr/>
          <p:nvPr/>
        </p:nvSpPr>
        <p:spPr>
          <a:xfrm>
            <a:off x="1217669" y="3690257"/>
            <a:ext cx="2643415" cy="7042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68 diseases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B49D2E-5DF4-2A83-7639-A88F92959766}"/>
              </a:ext>
            </a:extLst>
          </p:cNvPr>
          <p:cNvSpPr/>
          <p:nvPr/>
        </p:nvSpPr>
        <p:spPr>
          <a:xfrm>
            <a:off x="1065269" y="4858658"/>
            <a:ext cx="2643415" cy="70428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68 diseases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C11FB4-A1CA-3FDF-69BC-AAE5C8FF1F38}"/>
              </a:ext>
            </a:extLst>
          </p:cNvPr>
          <p:cNvSpPr/>
          <p:nvPr/>
        </p:nvSpPr>
        <p:spPr>
          <a:xfrm>
            <a:off x="1217669" y="5011058"/>
            <a:ext cx="2643415" cy="7042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2,343,562 nonzero observations</a:t>
            </a:r>
          </a:p>
        </p:txBody>
      </p:sp>
    </p:spTree>
    <p:extLst>
      <p:ext uri="{BB962C8B-B14F-4D97-AF65-F5344CB8AC3E}">
        <p14:creationId xmlns:p14="http://schemas.microsoft.com/office/powerpoint/2010/main" val="992677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88EA6-25C9-935A-250A-8EAF6ABCA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557" y="263071"/>
            <a:ext cx="8915402" cy="1371600"/>
          </a:xfrm>
        </p:spPr>
        <p:txBody>
          <a:bodyPr/>
          <a:lstStyle/>
          <a:p>
            <a:r>
              <a:rPr lang="en-US" dirty="0"/>
              <a:t>Amount of Data Available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98EBC-D946-AFD7-43DC-E5434EA90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557" y="1360370"/>
            <a:ext cx="8915402" cy="4137259"/>
          </a:xfrm>
        </p:spPr>
        <p:txBody>
          <a:bodyPr/>
          <a:lstStyle/>
          <a:p>
            <a:r>
              <a:rPr lang="en-US" dirty="0"/>
              <a:t>Many time series across a variety of diseases</a:t>
            </a:r>
          </a:p>
          <a:p>
            <a:r>
              <a:rPr lang="en-US" dirty="0"/>
              <a:t>Often, data available for multiple locations</a:t>
            </a:r>
          </a:p>
          <a:p>
            <a:r>
              <a:rPr lang="en-US" dirty="0"/>
              <a:t>Dengue fever, influenza, and hepatitis subtypes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3EFC88-5E7F-2EDF-186A-CBC782A7F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144" y="0"/>
            <a:ext cx="5514856" cy="6858000"/>
          </a:xfrm>
          <a:prstGeom prst="rect">
            <a:avLst/>
          </a:prstGeom>
        </p:spPr>
      </p:pic>
      <p:pic>
        <p:nvPicPr>
          <p:cNvPr id="6" name="Picture 5" descr="Chart, histogram&#10;&#10;AI-generated content may be incorrect.">
            <a:extLst>
              <a:ext uri="{FF2B5EF4-FFF2-40B4-BE49-F238E27FC236}">
                <a16:creationId xmlns:a16="http://schemas.microsoft.com/office/drawing/2014/main" id="{243BB4AF-347D-0A8D-E99A-11682670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711" y="2813383"/>
            <a:ext cx="5392822" cy="40446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CF2C8D-9F0C-9196-8717-666D1AEAD6E5}"/>
              </a:ext>
            </a:extLst>
          </p:cNvPr>
          <p:cNvSpPr txBox="1"/>
          <p:nvPr/>
        </p:nvSpPr>
        <p:spPr>
          <a:xfrm>
            <a:off x="2393040" y="3012152"/>
            <a:ext cx="31949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Lengths of All Weekly or Monthly Time Series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A6F3C8-B027-C295-9702-80284363F125}"/>
              </a:ext>
            </a:extLst>
          </p:cNvPr>
          <p:cNvSpPr txBox="1"/>
          <p:nvPr/>
        </p:nvSpPr>
        <p:spPr>
          <a:xfrm>
            <a:off x="9253194" y="2567653"/>
            <a:ext cx="20400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Number of Nonzero Observations per Disease</a:t>
            </a:r>
          </a:p>
        </p:txBody>
      </p:sp>
    </p:spTree>
    <p:extLst>
      <p:ext uri="{BB962C8B-B14F-4D97-AF65-F5344CB8AC3E}">
        <p14:creationId xmlns:p14="http://schemas.microsoft.com/office/powerpoint/2010/main" val="2049781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4A373-6BD7-2183-4C11-FED7DB527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327" y="1809521"/>
            <a:ext cx="3187089" cy="1371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Sankey Diagram of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8EBBE-4CC6-6D60-2D97-782BB5EAA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99" y="3429000"/>
            <a:ext cx="4167589" cy="3293668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Left = Data Sources</a:t>
            </a:r>
          </a:p>
          <a:p>
            <a:r>
              <a:rPr lang="en-US" dirty="0"/>
              <a:t>Right = Diseases</a:t>
            </a:r>
          </a:p>
          <a:p>
            <a:r>
              <a:rPr lang="en-US" dirty="0"/>
              <a:t>Some diseases have available data from multiple data sources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E65ADD-5E81-D4DE-03D2-029FEC006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688" y="0"/>
            <a:ext cx="74180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513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1218B-BB86-ED2A-6435-3984C910C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55" y="1621283"/>
            <a:ext cx="8915402" cy="1371600"/>
          </a:xfrm>
        </p:spPr>
        <p:txBody>
          <a:bodyPr/>
          <a:lstStyle/>
          <a:p>
            <a:r>
              <a:rPr lang="en-US" dirty="0"/>
              <a:t>Time Coverage</a:t>
            </a:r>
            <a:br>
              <a:rPr lang="en-US" dirty="0"/>
            </a:br>
            <a:r>
              <a:rPr lang="en-US" dirty="0"/>
              <a:t>for Weekly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B8FE2-48CA-75EA-6CF6-3C3AEF5F9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491" y="3149130"/>
            <a:ext cx="3760680" cy="2930071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Excludes monthly </a:t>
            </a:r>
            <a:r>
              <a:rPr lang="en-US" dirty="0" err="1"/>
              <a:t>FoodNet</a:t>
            </a:r>
            <a:r>
              <a:rPr lang="en-US" dirty="0"/>
              <a:t> data</a:t>
            </a:r>
          </a:p>
          <a:p>
            <a:r>
              <a:rPr lang="en-US" dirty="0"/>
              <a:t>Multiple data sources may cover similar time periods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720842-ED3E-0A3C-8F90-105858D82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0709" y="0"/>
            <a:ext cx="7543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875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FF3E0-ABE6-6384-459E-1FC78F0F6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672" y="248640"/>
            <a:ext cx="8915402" cy="1371600"/>
          </a:xfrm>
        </p:spPr>
        <p:txBody>
          <a:bodyPr/>
          <a:lstStyle/>
          <a:p>
            <a:r>
              <a:rPr lang="en-US" dirty="0"/>
              <a:t>Structure of _</a:t>
            </a:r>
            <a:r>
              <a:rPr lang="en-US" dirty="0" err="1"/>
              <a:t>Organized_Lists</a:t>
            </a:r>
            <a:r>
              <a:rPr lang="en-US" dirty="0"/>
              <a:t> Data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A767878-3CBF-D86F-5F2D-B95954A44761}"/>
              </a:ext>
            </a:extLst>
          </p:cNvPr>
          <p:cNvSpPr/>
          <p:nvPr/>
        </p:nvSpPr>
        <p:spPr>
          <a:xfrm>
            <a:off x="558672" y="2273312"/>
            <a:ext cx="2628374" cy="66726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accent4"/>
                </a:solidFill>
              </a:rPr>
              <a:t>Disease_Source.RDS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6253C5-126C-174B-21D3-7BF79796E56A}"/>
              </a:ext>
            </a:extLst>
          </p:cNvPr>
          <p:cNvSpPr txBox="1"/>
          <p:nvPr/>
        </p:nvSpPr>
        <p:spPr>
          <a:xfrm>
            <a:off x="4560171" y="4087831"/>
            <a:ext cx="343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C04C9F-28D4-B55F-8E4F-4CCB86E9FD3C}"/>
              </a:ext>
            </a:extLst>
          </p:cNvPr>
          <p:cNvSpPr txBox="1"/>
          <p:nvPr/>
        </p:nvSpPr>
        <p:spPr>
          <a:xfrm>
            <a:off x="4374452" y="2380565"/>
            <a:ext cx="898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List[[1]]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B22AB9-8941-CAD6-2788-C4727E3D6ED8}"/>
              </a:ext>
            </a:extLst>
          </p:cNvPr>
          <p:cNvSpPr txBox="1"/>
          <p:nvPr/>
        </p:nvSpPr>
        <p:spPr>
          <a:xfrm>
            <a:off x="4374452" y="2997578"/>
            <a:ext cx="898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List[[2]]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24EBDD-C616-0479-C69A-097FE9C0AF4D}"/>
              </a:ext>
            </a:extLst>
          </p:cNvPr>
          <p:cNvSpPr txBox="1"/>
          <p:nvPr/>
        </p:nvSpPr>
        <p:spPr>
          <a:xfrm>
            <a:off x="4383099" y="3646708"/>
            <a:ext cx="898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List[[3]]</a:t>
            </a:r>
          </a:p>
        </p:txBody>
      </p:sp>
      <p:sp>
        <p:nvSpPr>
          <p:cNvPr id="9" name="Left Bracket 8">
            <a:extLst>
              <a:ext uri="{FF2B5EF4-FFF2-40B4-BE49-F238E27FC236}">
                <a16:creationId xmlns:a16="http://schemas.microsoft.com/office/drawing/2014/main" id="{0C566C06-5623-D8F7-5BCC-D38956D5ECE5}"/>
              </a:ext>
            </a:extLst>
          </p:cNvPr>
          <p:cNvSpPr/>
          <p:nvPr/>
        </p:nvSpPr>
        <p:spPr>
          <a:xfrm>
            <a:off x="4255686" y="2251376"/>
            <a:ext cx="180804" cy="2377039"/>
          </a:xfrm>
          <a:prstGeom prst="leftBracket">
            <a:avLst>
              <a:gd name="adj" fmla="val 97699"/>
            </a:avLst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ket 9">
            <a:extLst>
              <a:ext uri="{FF2B5EF4-FFF2-40B4-BE49-F238E27FC236}">
                <a16:creationId xmlns:a16="http://schemas.microsoft.com/office/drawing/2014/main" id="{69C085E0-A1AE-8D59-5609-3BEC83F675FA}"/>
              </a:ext>
            </a:extLst>
          </p:cNvPr>
          <p:cNvSpPr/>
          <p:nvPr/>
        </p:nvSpPr>
        <p:spPr>
          <a:xfrm rot="10800000">
            <a:off x="5299306" y="2251375"/>
            <a:ext cx="180804" cy="2377039"/>
          </a:xfrm>
          <a:prstGeom prst="leftBracket">
            <a:avLst>
              <a:gd name="adj" fmla="val 97699"/>
            </a:avLst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F6892C2-5F80-DC04-E5EA-F6A725D1D320}"/>
              </a:ext>
            </a:extLst>
          </p:cNvPr>
          <p:cNvCxnSpPr>
            <a:cxnSpLocks/>
            <a:stCxn id="30" idx="1"/>
          </p:cNvCxnSpPr>
          <p:nvPr/>
        </p:nvCxnSpPr>
        <p:spPr>
          <a:xfrm>
            <a:off x="5398967" y="2565230"/>
            <a:ext cx="1066826" cy="30706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Left Bracket 15">
            <a:extLst>
              <a:ext uri="{FF2B5EF4-FFF2-40B4-BE49-F238E27FC236}">
                <a16:creationId xmlns:a16="http://schemas.microsoft.com/office/drawing/2014/main" id="{6BD6DD04-5517-EEE8-8F84-3F5B8C8E293D}"/>
              </a:ext>
            </a:extLst>
          </p:cNvPr>
          <p:cNvSpPr/>
          <p:nvPr/>
        </p:nvSpPr>
        <p:spPr>
          <a:xfrm>
            <a:off x="4319464" y="2412138"/>
            <a:ext cx="145831" cy="306185"/>
          </a:xfrm>
          <a:prstGeom prst="leftBracket">
            <a:avLst>
              <a:gd name="adj" fmla="val 97699"/>
            </a:avLst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eft Bracket 16">
            <a:extLst>
              <a:ext uri="{FF2B5EF4-FFF2-40B4-BE49-F238E27FC236}">
                <a16:creationId xmlns:a16="http://schemas.microsoft.com/office/drawing/2014/main" id="{44FDD8FF-4944-FE4C-43A7-8BB128C62349}"/>
              </a:ext>
            </a:extLst>
          </p:cNvPr>
          <p:cNvSpPr/>
          <p:nvPr/>
        </p:nvSpPr>
        <p:spPr>
          <a:xfrm>
            <a:off x="6531088" y="2060169"/>
            <a:ext cx="180804" cy="2601598"/>
          </a:xfrm>
          <a:prstGeom prst="leftBracket">
            <a:avLst>
              <a:gd name="adj" fmla="val 97699"/>
            </a:avLst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eft Bracket 17">
            <a:extLst>
              <a:ext uri="{FF2B5EF4-FFF2-40B4-BE49-F238E27FC236}">
                <a16:creationId xmlns:a16="http://schemas.microsoft.com/office/drawing/2014/main" id="{EA209350-D2AD-1B24-D8A3-5946A847A90F}"/>
              </a:ext>
            </a:extLst>
          </p:cNvPr>
          <p:cNvSpPr/>
          <p:nvPr/>
        </p:nvSpPr>
        <p:spPr>
          <a:xfrm rot="10800000">
            <a:off x="10829220" y="2060167"/>
            <a:ext cx="180804" cy="2601598"/>
          </a:xfrm>
          <a:prstGeom prst="leftBracket">
            <a:avLst>
              <a:gd name="adj" fmla="val 97699"/>
            </a:avLst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CEE23C-CF11-0CA3-3B85-535C4784CB1E}"/>
              </a:ext>
            </a:extLst>
          </p:cNvPr>
          <p:cNvSpPr txBox="1"/>
          <p:nvPr/>
        </p:nvSpPr>
        <p:spPr>
          <a:xfrm>
            <a:off x="6724266" y="2153172"/>
            <a:ext cx="1182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List[[1]]$</a:t>
            </a:r>
            <a:r>
              <a:rPr lang="en-US" dirty="0" err="1"/>
              <a:t>ts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7A5CE0-0D47-9D92-5CA9-CA01872D2E1C}"/>
              </a:ext>
            </a:extLst>
          </p:cNvPr>
          <p:cNvSpPr txBox="1"/>
          <p:nvPr/>
        </p:nvSpPr>
        <p:spPr>
          <a:xfrm>
            <a:off x="6726588" y="3886527"/>
            <a:ext cx="2831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List[[1]]$</a:t>
            </a:r>
            <a:r>
              <a:rPr lang="en-US" dirty="0" err="1"/>
              <a:t>ts_time_cadence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83EE08-8132-5832-2EA3-147AA84337C6}"/>
              </a:ext>
            </a:extLst>
          </p:cNvPr>
          <p:cNvSpPr txBox="1"/>
          <p:nvPr/>
        </p:nvSpPr>
        <p:spPr>
          <a:xfrm>
            <a:off x="6724556" y="3522395"/>
            <a:ext cx="2280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List[[1]]$</a:t>
            </a:r>
            <a:r>
              <a:rPr lang="en-US" dirty="0" err="1"/>
              <a:t>ts_geography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9A260A-7941-E8EB-B363-2B7E5FE53C57}"/>
              </a:ext>
            </a:extLst>
          </p:cNvPr>
          <p:cNvSpPr txBox="1"/>
          <p:nvPr/>
        </p:nvSpPr>
        <p:spPr>
          <a:xfrm>
            <a:off x="6919591" y="4172094"/>
            <a:ext cx="343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50C25C-CDA1-6C6D-DD39-2A8531F2EE89}"/>
              </a:ext>
            </a:extLst>
          </p:cNvPr>
          <p:cNvSpPr txBox="1"/>
          <p:nvPr/>
        </p:nvSpPr>
        <p:spPr>
          <a:xfrm>
            <a:off x="558672" y="5065596"/>
            <a:ext cx="100561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List[[x]] Elements Correspond to Different Time Series, e.g.,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Different Locations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Different Time Scales (e.g., daily or weekly)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Different Outcomes (cases, deaths, hospitalizations, etc.)</a:t>
            </a:r>
          </a:p>
        </p:txBody>
      </p:sp>
      <p:sp>
        <p:nvSpPr>
          <p:cNvPr id="30" name="Left Bracket 29">
            <a:extLst>
              <a:ext uri="{FF2B5EF4-FFF2-40B4-BE49-F238E27FC236}">
                <a16:creationId xmlns:a16="http://schemas.microsoft.com/office/drawing/2014/main" id="{0D4F76B9-9AC6-15B2-105D-7CC96E3B6AB7}"/>
              </a:ext>
            </a:extLst>
          </p:cNvPr>
          <p:cNvSpPr/>
          <p:nvPr/>
        </p:nvSpPr>
        <p:spPr>
          <a:xfrm rot="10800000">
            <a:off x="5253136" y="2412138"/>
            <a:ext cx="145831" cy="306185"/>
          </a:xfrm>
          <a:prstGeom prst="leftBracket">
            <a:avLst>
              <a:gd name="adj" fmla="val 97699"/>
            </a:avLst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9AC228F-F953-F29C-5C67-A05E5E85361A}"/>
              </a:ext>
            </a:extLst>
          </p:cNvPr>
          <p:cNvCxnSpPr>
            <a:cxnSpLocks/>
          </p:cNvCxnSpPr>
          <p:nvPr/>
        </p:nvCxnSpPr>
        <p:spPr>
          <a:xfrm>
            <a:off x="3187046" y="2606945"/>
            <a:ext cx="1015112" cy="336586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456697D-51DB-8DB7-08AD-E865EA6D1F1F}"/>
              </a:ext>
            </a:extLst>
          </p:cNvPr>
          <p:cNvSpPr txBox="1"/>
          <p:nvPr/>
        </p:nvSpPr>
        <p:spPr>
          <a:xfrm>
            <a:off x="6726860" y="2478512"/>
            <a:ext cx="1931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List[[1]]$</a:t>
            </a:r>
            <a:r>
              <a:rPr lang="en-US" dirty="0" err="1"/>
              <a:t>ts_dates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8FD595-0B74-1E41-5DE3-756AA47EF655}"/>
              </a:ext>
            </a:extLst>
          </p:cNvPr>
          <p:cNvSpPr txBox="1"/>
          <p:nvPr/>
        </p:nvSpPr>
        <p:spPr>
          <a:xfrm>
            <a:off x="6724266" y="2806373"/>
            <a:ext cx="2665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List[[1]]$</a:t>
            </a:r>
            <a:r>
              <a:rPr lang="en-US" dirty="0" err="1"/>
              <a:t>ts_dates_actual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65911B-333B-4FC5-BEF5-3E06F6920CB4}"/>
              </a:ext>
            </a:extLst>
          </p:cNvPr>
          <p:cNvSpPr txBox="1"/>
          <p:nvPr/>
        </p:nvSpPr>
        <p:spPr>
          <a:xfrm>
            <a:off x="6722908" y="3162021"/>
            <a:ext cx="3372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List[[1]]$</a:t>
            </a:r>
            <a:r>
              <a:rPr lang="en-US" dirty="0" err="1"/>
              <a:t>ts_measurement_type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BEEBF6-4200-FCA8-E64E-90E9CEE37B89}"/>
              </a:ext>
            </a:extLst>
          </p:cNvPr>
          <p:cNvSpPr txBox="1"/>
          <p:nvPr/>
        </p:nvSpPr>
        <p:spPr>
          <a:xfrm>
            <a:off x="7262955" y="1564555"/>
            <a:ext cx="2988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Data for Single Time Series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636EDDF-FB69-9C45-F006-051B653F9864}"/>
              </a:ext>
            </a:extLst>
          </p:cNvPr>
          <p:cNvSpPr txBox="1"/>
          <p:nvPr/>
        </p:nvSpPr>
        <p:spPr>
          <a:xfrm>
            <a:off x="3730666" y="1481717"/>
            <a:ext cx="2286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Indexing Different Time Series</a:t>
            </a:r>
          </a:p>
        </p:txBody>
      </p:sp>
    </p:spTree>
    <p:extLst>
      <p:ext uri="{BB962C8B-B14F-4D97-AF65-F5344CB8AC3E}">
        <p14:creationId xmlns:p14="http://schemas.microsoft.com/office/powerpoint/2010/main" val="2273179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65E45-C24B-3D20-4112-A52165DAA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9DE5-CEEF-0D4E-4921-3FBFE4987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689" y="213890"/>
            <a:ext cx="8915402" cy="1371600"/>
          </a:xfrm>
        </p:spPr>
        <p:txBody>
          <a:bodyPr/>
          <a:lstStyle/>
          <a:p>
            <a:r>
              <a:rPr lang="en-US" dirty="0"/>
              <a:t>Data Fields for Each Time Series Entry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0493921-C5AA-5694-CA82-8B03D8E0C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839452"/>
              </p:ext>
            </p:extLst>
          </p:nvPr>
        </p:nvGraphicFramePr>
        <p:xfrm>
          <a:off x="448260" y="1402711"/>
          <a:ext cx="11493782" cy="509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7239">
                  <a:extLst>
                    <a:ext uri="{9D8B030D-6E8A-4147-A177-3AD203B41FA5}">
                      <a16:colId xmlns:a16="http://schemas.microsoft.com/office/drawing/2014/main" val="1135324440"/>
                    </a:ext>
                  </a:extLst>
                </a:gridCol>
                <a:gridCol w="8306543">
                  <a:extLst>
                    <a:ext uri="{9D8B030D-6E8A-4147-A177-3AD203B41FA5}">
                      <a16:colId xmlns:a16="http://schemas.microsoft.com/office/drawing/2014/main" val="1606499180"/>
                    </a:ext>
                  </a:extLst>
                </a:gridCol>
              </a:tblGrid>
              <a:tr h="357010">
                <a:tc>
                  <a:txBody>
                    <a:bodyPr/>
                    <a:lstStyle/>
                    <a:p>
                      <a:r>
                        <a:rPr lang="en-US" dirty="0"/>
                        <a:t>Time Series Characteristic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734932"/>
                  </a:ext>
                </a:extLst>
              </a:tr>
              <a:tr h="35701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Time Series Observations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7789"/>
                  </a:ext>
                </a:extLst>
              </a:tr>
              <a:tr h="557523">
                <a:tc>
                  <a:txBody>
                    <a:bodyPr/>
                    <a:lstStyle/>
                    <a:p>
                      <a:r>
                        <a:rPr lang="en-US" sz="1600" dirty="0" err="1"/>
                        <a:t>ts_dates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Processed/clean dates of observations case to regular daily/weekly cadence. For US </a:t>
                      </a:r>
                      <a:r>
                        <a:rPr lang="en-US" sz="1600" dirty="0" err="1"/>
                        <a:t>FoodNet</a:t>
                      </a:r>
                      <a:r>
                        <a:rPr lang="en-US" sz="1600" dirty="0"/>
                        <a:t> monthly data, dates are recorded in a YEAR_MONTH format.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362014"/>
                  </a:ext>
                </a:extLst>
              </a:tr>
              <a:tr h="557523">
                <a:tc>
                  <a:txBody>
                    <a:bodyPr/>
                    <a:lstStyle/>
                    <a:p>
                      <a:r>
                        <a:rPr lang="en-US" sz="1600" dirty="0" err="1"/>
                        <a:t>ts_dates_actual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Raw dates of observations in original data. NA values indicate days/weeks not included in raw data (Excluding Project Tycho)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7643871"/>
                  </a:ext>
                </a:extLst>
              </a:tr>
              <a:tr h="35701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ts_dates_start_actual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Start of raw observation intervals after converting to incidence (Project Tycho Only)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943255"/>
                  </a:ext>
                </a:extLst>
              </a:tr>
              <a:tr h="35701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ts_dates_end_actual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End of raw observation intervals after converting to incidence (Project Tycho Only)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048230"/>
                  </a:ext>
                </a:extLst>
              </a:tr>
              <a:tr h="35701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ts_disease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Disease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50353"/>
                  </a:ext>
                </a:extLst>
              </a:tr>
              <a:tr h="35701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ts_measurement_type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Incidence/deaths/hospitalizations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049060"/>
                  </a:ext>
                </a:extLst>
              </a:tr>
              <a:tr h="35701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ts_geography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Location Name (not standardized across data streams)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337606"/>
                  </a:ext>
                </a:extLst>
              </a:tr>
              <a:tr h="35701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ts_first_time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First date of observations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6384656"/>
                  </a:ext>
                </a:extLst>
              </a:tr>
              <a:tr h="35701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ts_last_time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Last date of observations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7835"/>
                  </a:ext>
                </a:extLst>
              </a:tr>
              <a:tr h="35701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ts_time_cadence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Monthly/weekly/daily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134778"/>
                  </a:ext>
                </a:extLst>
              </a:tr>
              <a:tr h="35701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ts_scale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Counts/proportion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428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6024525"/>
      </p:ext>
    </p:extLst>
  </p:cSld>
  <p:clrMapOvr>
    <a:masterClrMapping/>
  </p:clrMapOvr>
</p:sld>
</file>

<file path=ppt/theme/theme1.xml><?xml version="1.0" encoding="utf-8"?>
<a:theme xmlns:a="http://schemas.openxmlformats.org/drawingml/2006/main" name="EncaseVTI">
  <a:themeElements>
    <a:clrScheme name="AnalogousFromLightSeed_2SEEDS">
      <a:dk1>
        <a:srgbClr val="000000"/>
      </a:dk1>
      <a:lt1>
        <a:srgbClr val="FFFFFF"/>
      </a:lt1>
      <a:dk2>
        <a:srgbClr val="243841"/>
      </a:dk2>
      <a:lt2>
        <a:srgbClr val="E2E5E8"/>
      </a:lt2>
      <a:accent1>
        <a:srgbClr val="D6933E"/>
      </a:accent1>
      <a:accent2>
        <a:srgbClr val="E38879"/>
      </a:accent2>
      <a:accent3>
        <a:srgbClr val="A7A559"/>
      </a:accent3>
      <a:accent4>
        <a:srgbClr val="49B0BD"/>
      </a:accent4>
      <a:accent5>
        <a:srgbClr val="6FA5E1"/>
      </a:accent5>
      <a:accent6>
        <a:srgbClr val="5C63DD"/>
      </a:accent6>
      <a:hlink>
        <a:srgbClr val="6383AB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ncaseVTI" id="{C293990F-FDB3-4ED3-8175-FB79CE5A2A12}" vid="{A5662C19-271F-459F-B4ED-861A9823764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4158</TotalTime>
  <Words>415</Words>
  <Application>Microsoft Macintosh PowerPoint</Application>
  <PresentationFormat>Widescreen</PresentationFormat>
  <Paragraphs>72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Avenir Next LT Pro</vt:lpstr>
      <vt:lpstr>Avenir Next LT Pro Light</vt:lpstr>
      <vt:lpstr>EncaseVTI</vt:lpstr>
      <vt:lpstr>Summary of Data Structure and Availability</vt:lpstr>
      <vt:lpstr>Some basic stats</vt:lpstr>
      <vt:lpstr>Amount of Data Available</vt:lpstr>
      <vt:lpstr>Sankey Diagram of Data </vt:lpstr>
      <vt:lpstr>Time Coverage for Weekly Data</vt:lpstr>
      <vt:lpstr>Structure of _Organized_Lists Data</vt:lpstr>
      <vt:lpstr>Data Fields for Each Time Series Entry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VanDervort, Lauren Beesley</dc:creator>
  <cp:lastModifiedBy>VanDervort, Lauren Beesley</cp:lastModifiedBy>
  <cp:revision>15</cp:revision>
  <dcterms:created xsi:type="dcterms:W3CDTF">2026-02-20T22:45:10Z</dcterms:created>
  <dcterms:modified xsi:type="dcterms:W3CDTF">2026-02-23T20:03:35Z</dcterms:modified>
</cp:coreProperties>
</file>